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2011680"/>
            <a:ext cx="5669280" cy="5669280"/>
          </a:xfrm>
          <a:prstGeom prst="ellipse">
            <a:avLst/>
          </a:prstGeom>
          <a:solidFill>
            <a:srgbClr val="6E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37360" y="3108960"/>
            <a:ext cx="4206240" cy="4206240"/>
          </a:xfrm>
          <a:prstGeom prst="ellipse">
            <a:avLst/>
          </a:prstGeom>
          <a:solidFill>
            <a:srgbClr val="6E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7FA894"/>
                </a:solidFill>
                <a:latin typeface="Segoe UI"/>
              </a:rPr>
              <a:t>C R M   P A R A   C L Í N I C A   D E   E S T É T I C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Georgia"/>
              </a:rPr>
              <a:t>Do papel e do WhatsApp para um sistema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Georgia"/>
              </a:rPr>
              <a:t>feito sob medida para a sua clínica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92040"/>
            <a:ext cx="1554480" cy="27432"/>
          </a:xfrm>
          <a:prstGeom prst="rect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D9C7CD"/>
                </a:solidFill>
                <a:latin typeface="Segoe UI"/>
              </a:rPr>
              <a:t>Apresentação de projeto  ·  MVP (Fase 1)  ·  Agosto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B9A3AA"/>
                </a:solidFill>
                <a:latin typeface="Segoe UI"/>
              </a:rPr>
              <a:t>Preparado por Nathan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Por que este projeto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Hoje a operação da clínica acontece em papel, planilhas e conversas de WhatsApp. O objetivo é digitalizar o dia a dia
— captação, anamnese, triagem, agenda, procedimentos e fotos — em um sistema único, seguro e pensado para dados sensíveis de saúde.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97480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9953" y="3108960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2561" y="340156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22432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Resolver a operação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709160"/>
            <a:ext cx="22066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Substituir papel, planilha e WhatsApp por um fluxo único e organizado.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2697480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88421" y="3108960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1029" y="340156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9987" y="4069080"/>
            <a:ext cx="22432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Dados com responsabilidade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8275" y="4709160"/>
            <a:ext cx="22066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Anamnese e fotos são dados sensíveis de saúde — LGPD desde o dia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2697480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16889" y="3108960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9497" y="340156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4069080"/>
            <a:ext cx="22432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Pensar grande, começar pequeno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743" y="4709160"/>
            <a:ext cx="22066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Nasce sob medida para a clínica, mas pronta para crescer no futuro.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331" y="2697480"/>
            <a:ext cx="2572435" cy="29718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5357" y="3108960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37965" y="340156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6923" y="4069080"/>
            <a:ext cx="22432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Crescimento contínuo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4709160"/>
            <a:ext cx="22066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MVP em Fase 1, com engajamento e marketing planejados nas fases seguintes.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Escopo por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A entrega é dividida em três fases, começando pelo essencial para operar a clínica.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3472586" cy="3749039"/>
          </a:xfrm>
          <a:prstGeom prst="roundRect">
            <a:avLst>
              <a:gd name="adj" fmla="val 4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3472586" cy="566928"/>
          </a:xfrm>
          <a:prstGeom prst="roundRect">
            <a:avLst>
              <a:gd name="adj" fmla="val 4000"/>
            </a:avLst>
          </a:prstGeom>
          <a:solidFill>
            <a:srgbClr val="5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15184"/>
            <a:ext cx="3472586" cy="283464"/>
          </a:xfrm>
          <a:prstGeom prst="rect">
            <a:avLst/>
          </a:prstGeom>
          <a:solidFill>
            <a:srgbClr val="5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01538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FASE 1 ·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7"/>
            <a:ext cx="29605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2E2A2C"/>
                </a:solidFill>
                <a:latin typeface="Georgia"/>
              </a:rPr>
              <a:t>Operar o dia a 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3015386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Cadastro de pacientes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Anamnese online por link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Triagem (agendar/recusar)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Agenda por profissional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Catálogo de procedimentos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Mídia (antes/depois)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Login por papel + LGPD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9554" y="2331720"/>
            <a:ext cx="3472586" cy="3749039"/>
          </a:xfrm>
          <a:prstGeom prst="roundRect">
            <a:avLst>
              <a:gd name="adj" fmla="val 4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9554" y="2331720"/>
            <a:ext cx="3472586" cy="566928"/>
          </a:xfrm>
          <a:prstGeom prst="roundRect">
            <a:avLst>
              <a:gd name="adj" fmla="val 4000"/>
            </a:avLst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9554" y="2615184"/>
            <a:ext cx="3472586" cy="283464"/>
          </a:xfrm>
          <a:prstGeom prst="rect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5586" y="2331720"/>
            <a:ext cx="301538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5586" y="3081527"/>
            <a:ext cx="29605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2E2A2C"/>
                </a:solidFill>
                <a:latin typeface="Georgia"/>
              </a:rPr>
              <a:t>Engajamento e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5586" y="3749039"/>
            <a:ext cx="3015386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Controle de frequência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Lembrete de aniversário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Campanhas e descontos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Indicação de pacientes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Agendamento online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Autenticação em 2 fatores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2180" y="2331720"/>
            <a:ext cx="3472586" cy="3749039"/>
          </a:xfrm>
          <a:prstGeom prst="roundRect">
            <a:avLst>
              <a:gd name="adj" fmla="val 4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52180" y="2331720"/>
            <a:ext cx="3472586" cy="566928"/>
          </a:xfrm>
          <a:prstGeom prst="roundRect">
            <a:avLst>
              <a:gd name="adj" fmla="val 4000"/>
            </a:avLst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2180" y="2615184"/>
            <a:ext cx="3472586" cy="283464"/>
          </a:xfrm>
          <a:prstGeom prst="rect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8212" y="2331720"/>
            <a:ext cx="301538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FASE 3 · OPCIONAL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8212" y="3081527"/>
            <a:ext cx="296052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2E2A2C"/>
                </a:solidFill>
                <a:latin typeface="Georgia"/>
              </a:rPr>
              <a:t>Marketing e prova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8212" y="3749039"/>
            <a:ext cx="3015386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Depoimentos de pacientes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Fotos públicas (com consentimento)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Link de avaliação do Google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Exibição de avaliações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F63"/>
                </a:solidFill>
                <a:latin typeface="Segoe UI"/>
              </a:rPr>
              <a:t>•  Form builder de anamnese*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QUEM USA 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Atores e papéis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Cada papel enxerga só o que precisa — a Recepção, por exemplo, não acessa dados clínicos sensíveis.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68880"/>
            <a:ext cx="2006742" cy="32004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5395" y="2834640"/>
            <a:ext cx="749808" cy="749808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3995" y="3063240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749039"/>
            <a:ext cx="1787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133088"/>
            <a:ext cx="17872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7A2E44"/>
                </a:solidFill>
                <a:latin typeface="Segoe UI"/>
              </a:rPr>
              <a:t>Sócios (3–4)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617720"/>
            <a:ext cx="171413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Acesso total ao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9702" y="2468880"/>
            <a:ext cx="2006742" cy="32004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8169" y="2834640"/>
            <a:ext cx="749808" cy="749808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86769" y="3063240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9430" y="3749039"/>
            <a:ext cx="1787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Profissional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9430" y="4133088"/>
            <a:ext cx="17872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7A2E44"/>
                </a:solidFill>
                <a:latin typeface="Segoe UI"/>
              </a:rPr>
              <a:t>Esteticistas (~5)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6006" y="4617720"/>
            <a:ext cx="171413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Ficha clínica, anamnese, triagem, procedimentos, mídia e a própria agenda.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2476" y="2468880"/>
            <a:ext cx="2006742" cy="32004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20943" y="2834640"/>
            <a:ext cx="749808" cy="749808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9543" y="3063240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204" y="3749039"/>
            <a:ext cx="1787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Recepção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204" y="4133088"/>
            <a:ext cx="17872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7A2E44"/>
                </a:solidFill>
                <a:latin typeface="Segoe UI"/>
              </a:rPr>
              <a:t>1 pessoa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80" y="4617720"/>
            <a:ext cx="171413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Envio da anamnese, triagem, cadastro, agenda e catálogo. Sem dados clínicos sensíveis.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5250" y="2468880"/>
            <a:ext cx="2006742" cy="32004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83717" y="2834640"/>
            <a:ext cx="749808" cy="749808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2317" y="3063240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4978" y="3749039"/>
            <a:ext cx="1787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Paciente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4978" y="4133088"/>
            <a:ext cx="17872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7A2E44"/>
                </a:solidFill>
                <a:latin typeface="Segoe UI"/>
              </a:rPr>
              <a:t>Sem 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1554" y="4617720"/>
            <a:ext cx="171413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Informa o procedimento de interesse e preenche os próprios dados + anamnese pelo link.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8024" y="2468880"/>
            <a:ext cx="2006742" cy="320040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6492" y="2834640"/>
            <a:ext cx="749808" cy="749808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75092" y="3063240"/>
            <a:ext cx="292608" cy="29260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7752" y="3749039"/>
            <a:ext cx="17872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50" b="1" i="0">
                <a:solidFill>
                  <a:srgbClr val="2E2A2C"/>
                </a:solidFill>
                <a:latin typeface="Segoe UI"/>
              </a:rPr>
              <a:t>Sistema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7752" y="4133088"/>
            <a:ext cx="17872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7A2E44"/>
                </a:solidFill>
                <a:latin typeface="Segoe UI"/>
              </a:rPr>
              <a:t>Fase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4328" y="4617720"/>
            <a:ext cx="171413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Rotinas automáticas, como lembrete de aniversário.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Os módulos do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É o que a clínica vai usar todos os dias assim que o sistema entrar no 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23160"/>
            <a:ext cx="1660093" cy="3246120"/>
          </a:xfrm>
          <a:prstGeom prst="roundRect">
            <a:avLst>
              <a:gd name="adj" fmla="val 5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1214" y="27889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59814" y="3017520"/>
            <a:ext cx="274320" cy="274320"/>
          </a:xfrm>
          <a:prstGeom prst="rect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721608"/>
            <a:ext cx="14406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Pacientes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389120"/>
            <a:ext cx="140406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F0E4E8"/>
                </a:solidFill>
                <a:latin typeface="Segoe UI"/>
              </a:rPr>
              <a:t>Auto-cadastro pelo link ou pela recepção, com CPF único e alerta de duplicidade.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6477" y="2423160"/>
            <a:ext cx="1660093" cy="3246120"/>
          </a:xfrm>
          <a:prstGeom prst="roundRect">
            <a:avLst>
              <a:gd name="adj" fmla="val 5000"/>
            </a:avLst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10763" y="27889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39363" y="3017520"/>
            <a:ext cx="274320" cy="274320"/>
          </a:xfrm>
          <a:prstGeom prst="rect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6205" y="3721608"/>
            <a:ext cx="14406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Anamnese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493" y="4389120"/>
            <a:ext cx="140406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F0E4E8"/>
                </a:solidFill>
                <a:latin typeface="Segoe UI"/>
              </a:rPr>
              <a:t>Link tokenizado por WhatsApp, sem login; a paciente informa o procedimento de interesse.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6026" y="2423160"/>
            <a:ext cx="1660093" cy="3246120"/>
          </a:xfrm>
          <a:prstGeom prst="roundRect">
            <a:avLst>
              <a:gd name="adj" fmla="val 5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90313" y="27889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8913" y="3017520"/>
            <a:ext cx="274320" cy="274320"/>
          </a:xfrm>
          <a:prstGeom prst="rect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5754" y="3721608"/>
            <a:ext cx="14406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Triagem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4042" y="4389120"/>
            <a:ext cx="140406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F0E4E8"/>
                </a:solidFill>
                <a:latin typeface="Segoe UI"/>
              </a:rPr>
              <a:t>Fila de solicitações: agendar (mensagem direta) ou recusar com o motivo.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5575" y="2423160"/>
            <a:ext cx="1660093" cy="3246120"/>
          </a:xfrm>
          <a:prstGeom prst="roundRect">
            <a:avLst>
              <a:gd name="adj" fmla="val 5000"/>
            </a:avLst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69862" y="27889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98462" y="3017520"/>
            <a:ext cx="274320" cy="274320"/>
          </a:xfrm>
          <a:prstGeom prst="rect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5303" y="3721608"/>
            <a:ext cx="14406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3591" y="4389120"/>
            <a:ext cx="140406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F0E4E8"/>
                </a:solidFill>
                <a:latin typeface="Segoe UI"/>
              </a:rPr>
              <a:t>Marcação interna por profissional, sem colisão de horários.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5124" y="2423160"/>
            <a:ext cx="1660093" cy="3246120"/>
          </a:xfrm>
          <a:prstGeom prst="roundRect">
            <a:avLst>
              <a:gd name="adj" fmla="val 5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49411" y="27889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011" y="3017520"/>
            <a:ext cx="274320" cy="274320"/>
          </a:xfrm>
          <a:prstGeom prst="rect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4852" y="3721608"/>
            <a:ext cx="14406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Catálogo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3140" y="4389120"/>
            <a:ext cx="140406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F0E4E8"/>
                </a:solidFill>
                <a:latin typeface="Segoe UI"/>
              </a:rPr>
              <a:t>Procedimentos com duração padrão e valor de referência editável.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4674" y="2423160"/>
            <a:ext cx="1660093" cy="3246120"/>
          </a:xfrm>
          <a:prstGeom prst="roundRect">
            <a:avLst>
              <a:gd name="adj" fmla="val 5000"/>
            </a:avLst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28960" y="27889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57560" y="3017520"/>
            <a:ext cx="274320" cy="274320"/>
          </a:xfrm>
          <a:prstGeom prst="rect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4402" y="3721608"/>
            <a:ext cx="144063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Mídia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2690" y="4389120"/>
            <a:ext cx="140406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950" b="0" i="0">
                <a:solidFill>
                  <a:srgbClr val="F0E4E8"/>
                </a:solidFill>
                <a:latin typeface="Segoe UI"/>
              </a:rPr>
              <a:t>Fotos de antes/depois com consentimento clínico e público.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DIAGRAMA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Quem faz o quê no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Visão de casos de uso: cada papel aciona um conjunto de funções do CRM.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920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Recepção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336" y="2286000"/>
            <a:ext cx="8936431" cy="749808"/>
          </a:xfrm>
          <a:prstGeom prst="roundRect">
            <a:avLst>
              <a:gd name="adj" fmla="val 8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286000"/>
            <a:ext cx="8479231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Login · Enviar link de anamnese · Triar solicitação (agendar/recusar) · Cadastrar · Agendar · Catálogo · (Fase 2: frequência, campanhas, indicações)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3824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63824"/>
            <a:ext cx="1920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Profissional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88336" y="3163824"/>
            <a:ext cx="8936431" cy="749808"/>
          </a:xfrm>
          <a:prstGeom prst="roundRect">
            <a:avLst>
              <a:gd name="adj" fmla="val 8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3163824"/>
            <a:ext cx="8479231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Login · Ficha clínica · Triar solicitação · Registrar mídia · Aferir pressão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1648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5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041648"/>
            <a:ext cx="1920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88336" y="4041648"/>
            <a:ext cx="8936431" cy="749808"/>
          </a:xfrm>
          <a:prstGeom prst="roundRect">
            <a:avLst>
              <a:gd name="adj" fmla="val 8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4041648"/>
            <a:ext cx="8479231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Login · Gerenciar catálogo · Anonimizar/excluir paciente (LGPD) · Campanhas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9472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919472"/>
            <a:ext cx="1920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Paciente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88336" y="4919472"/>
            <a:ext cx="8936431" cy="749808"/>
          </a:xfrm>
          <a:prstGeom prst="roundRect">
            <a:avLst>
              <a:gd name="adj" fmla="val 8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8" y="4919472"/>
            <a:ext cx="8479231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Informar procedimento de interesse · Preencher dados + anamnese (sem login) · (Fase 2: agendar online)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797296"/>
            <a:ext cx="1920240" cy="749808"/>
          </a:xfrm>
          <a:prstGeom prst="roundRect">
            <a:avLst>
              <a:gd name="adj" fmla="val 8000"/>
            </a:avLst>
          </a:prstGeom>
          <a:solidFill>
            <a:srgbClr val="555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97296"/>
            <a:ext cx="1920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Sistema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88336" y="5797296"/>
            <a:ext cx="8936431" cy="749808"/>
          </a:xfrm>
          <a:prstGeom prst="roundRect">
            <a:avLst>
              <a:gd name="adj" fmla="val 8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44368" y="5797296"/>
            <a:ext cx="8479231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5F63"/>
                </a:solidFill>
                <a:latin typeface="Segoe UI"/>
              </a:rPr>
              <a:t>(Fase 2) Enviar lembrete de aniversário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DIAGRAMA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Como as informações se conectam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Modelo de dados simplificado — o Paciente é o centro do sistema; a Triagem decide o que vira agendamento.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965960"/>
            <a:ext cx="3429000" cy="128016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3246120"/>
            <a:ext cx="3429000" cy="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828800" y="3246120"/>
            <a:ext cx="3429000" cy="128016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57800" y="3246120"/>
            <a:ext cx="3429000" cy="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86800" y="1965960"/>
            <a:ext cx="0" cy="128016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3246120"/>
            <a:ext cx="0" cy="128016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800" y="3246120"/>
            <a:ext cx="0" cy="164592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257800" y="3246120"/>
            <a:ext cx="3429000" cy="164592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3246120"/>
            <a:ext cx="3429000" cy="1645920"/>
          </a:xfrm>
          <a:prstGeom prst="line">
            <a:avLst/>
          </a:prstGeom>
          <a:ln w="15875">
            <a:solidFill>
              <a:srgbClr val="B88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2940" y="150876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" y="1655063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Clínica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" y="2057400"/>
            <a:ext cx="2148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dados da clínica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" y="27889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" y="2935224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Anamnese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3337560"/>
            <a:ext cx="2148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histórico datado + IMC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" y="406908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" y="4215384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Mídia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" y="4617720"/>
            <a:ext cx="2148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fotos antes/depois + consentimentos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20940" y="150876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2379" y="1655063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Usuário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2379" y="2057400"/>
            <a:ext cx="2148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equipe: papel de acesso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20940" y="278892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2379" y="2935224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Agendamento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2379" y="3337560"/>
            <a:ext cx="2148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status + valor cobrado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20940" y="406908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2379" y="4215384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Procedimento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2379" y="4617720"/>
            <a:ext cx="2148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catálogo, duração, valor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4434840"/>
            <a:ext cx="2743200" cy="91440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45811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Solicitação / Triagem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983479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procedimento de interesse +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2743200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7F0EB"/>
          </a:solidFill>
          <a:ln w="25400">
            <a:solidFill>
              <a:srgbClr val="7A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28895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Paciente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29184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0" i="0">
                <a:solidFill>
                  <a:srgbClr val="6B5F63"/>
                </a:solidFill>
                <a:latin typeface="Segoe UI"/>
              </a:rPr>
              <a:t>CPF · contato · dados pessoais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DIAGRAMA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Fluxo de entrada da paciente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Da cliente interessada à decisão da clínica — sem login para a paciente.</a:t>
            </a:r>
          </a:p>
        </p:txBody>
      </p:sp>
      <p:sp>
        <p:nvSpPr>
          <p:cNvPr id="6" name="Oval 5"/>
          <p:cNvSpPr/>
          <p:nvPr/>
        </p:nvSpPr>
        <p:spPr>
          <a:xfrm>
            <a:off x="1110462" y="2194560"/>
            <a:ext cx="603504" cy="60350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462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Chevron 7"/>
          <p:cNvSpPr/>
          <p:nvPr/>
        </p:nvSpPr>
        <p:spPr>
          <a:xfrm>
            <a:off x="2220925" y="2404872"/>
            <a:ext cx="201168" cy="182880"/>
          </a:xfrm>
          <a:prstGeom prst="chevron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971800"/>
            <a:ext cx="1690573" cy="26517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227832"/>
            <a:ext cx="143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2E44"/>
                </a:solidFill>
                <a:latin typeface="Segoe UI"/>
              </a:rPr>
              <a:t>PACIENTE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40480"/>
            <a:ext cx="1397965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B5F63"/>
                </a:solidFill>
                <a:latin typeface="Segoe UI"/>
              </a:rPr>
              <a:t>Procura a clínica demonstrando interesse</a:t>
            </a:r>
          </a:p>
        </p:txBody>
      </p:sp>
      <p:sp>
        <p:nvSpPr>
          <p:cNvPr id="12" name="Oval 11"/>
          <p:cNvSpPr/>
          <p:nvPr/>
        </p:nvSpPr>
        <p:spPr>
          <a:xfrm>
            <a:off x="2983915" y="2194560"/>
            <a:ext cx="603504" cy="60350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3915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Chevron 13"/>
          <p:cNvSpPr/>
          <p:nvPr/>
        </p:nvSpPr>
        <p:spPr>
          <a:xfrm>
            <a:off x="4094378" y="2404872"/>
            <a:ext cx="201168" cy="182880"/>
          </a:xfrm>
          <a:prstGeom prst="chevron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40381" y="2971800"/>
            <a:ext cx="1690573" cy="26517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8397" y="3227832"/>
            <a:ext cx="143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2E44"/>
                </a:solidFill>
                <a:latin typeface="Segoe UI"/>
              </a:rPr>
              <a:t>RECEPÇÃO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685" y="3840480"/>
            <a:ext cx="1397965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B5F63"/>
                </a:solidFill>
                <a:latin typeface="Segoe UI"/>
              </a:rPr>
              <a:t>Envia o link de anamnese por WhatsApp (sem login)</a:t>
            </a:r>
          </a:p>
        </p:txBody>
      </p:sp>
      <p:sp>
        <p:nvSpPr>
          <p:cNvPr id="18" name="Oval 17"/>
          <p:cNvSpPr/>
          <p:nvPr/>
        </p:nvSpPr>
        <p:spPr>
          <a:xfrm>
            <a:off x="4857369" y="2194560"/>
            <a:ext cx="603504" cy="60350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7369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Chevron 19"/>
          <p:cNvSpPr/>
          <p:nvPr/>
        </p:nvSpPr>
        <p:spPr>
          <a:xfrm>
            <a:off x="5967831" y="2404872"/>
            <a:ext cx="201168" cy="182880"/>
          </a:xfrm>
          <a:prstGeom prst="chevron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13834" y="2971800"/>
            <a:ext cx="1690573" cy="26517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1850" y="3227832"/>
            <a:ext cx="143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2E44"/>
                </a:solidFill>
                <a:latin typeface="Segoe UI"/>
              </a:rPr>
              <a:t>PACIENTE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0138" y="3840480"/>
            <a:ext cx="1397965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B5F63"/>
                </a:solidFill>
                <a:latin typeface="Segoe UI"/>
              </a:rPr>
              <a:t>Informa o procedimento de interesse e preenche seus dados + anamnese</a:t>
            </a:r>
          </a:p>
        </p:txBody>
      </p:sp>
      <p:sp>
        <p:nvSpPr>
          <p:cNvPr id="24" name="Oval 23"/>
          <p:cNvSpPr/>
          <p:nvPr/>
        </p:nvSpPr>
        <p:spPr>
          <a:xfrm>
            <a:off x="6730822" y="2194560"/>
            <a:ext cx="603504" cy="60350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0822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Chevron 25"/>
          <p:cNvSpPr/>
          <p:nvPr/>
        </p:nvSpPr>
        <p:spPr>
          <a:xfrm>
            <a:off x="7841284" y="2404872"/>
            <a:ext cx="201168" cy="182880"/>
          </a:xfrm>
          <a:prstGeom prst="chevron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87287" y="2971800"/>
            <a:ext cx="1690573" cy="26517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5303" y="3227832"/>
            <a:ext cx="143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2E44"/>
                </a:solidFill>
                <a:latin typeface="Segoe UI"/>
              </a:rPr>
              <a:t>SISTEMA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3591" y="3840480"/>
            <a:ext cx="1397965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B5F63"/>
                </a:solidFill>
                <a:latin typeface="Segoe UI"/>
              </a:rPr>
              <a:t>Cria o cadastro, calcula o IMC, grava a anamnese e abre a solicitação</a:t>
            </a:r>
          </a:p>
        </p:txBody>
      </p:sp>
      <p:sp>
        <p:nvSpPr>
          <p:cNvPr id="30" name="Oval 29"/>
          <p:cNvSpPr/>
          <p:nvPr/>
        </p:nvSpPr>
        <p:spPr>
          <a:xfrm>
            <a:off x="8604275" y="2194560"/>
            <a:ext cx="603504" cy="60350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4275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2" name="Chevron 31"/>
          <p:cNvSpPr/>
          <p:nvPr/>
        </p:nvSpPr>
        <p:spPr>
          <a:xfrm>
            <a:off x="9714738" y="2404872"/>
            <a:ext cx="201168" cy="182880"/>
          </a:xfrm>
          <a:prstGeom prst="chevron">
            <a:avLst/>
          </a:prstGeom>
          <a:solidFill>
            <a:srgbClr val="A65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0740" y="2971800"/>
            <a:ext cx="1690573" cy="26517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8756" y="3227832"/>
            <a:ext cx="143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2E44"/>
                </a:solidFill>
                <a:latin typeface="Segoe UI"/>
              </a:rPr>
              <a:t>TRIAGEM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7044" y="3840480"/>
            <a:ext cx="1397965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B5F63"/>
                </a:solidFill>
                <a:latin typeface="Segoe UI"/>
              </a:rPr>
              <a:t>Recepção/profissional avalia a anamnese e o procedimento desejado</a:t>
            </a:r>
          </a:p>
        </p:txBody>
      </p:sp>
      <p:sp>
        <p:nvSpPr>
          <p:cNvPr id="36" name="Oval 35"/>
          <p:cNvSpPr/>
          <p:nvPr/>
        </p:nvSpPr>
        <p:spPr>
          <a:xfrm>
            <a:off x="10477728" y="2194560"/>
            <a:ext cx="603504" cy="60350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7728" y="219456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4194" y="2971800"/>
            <a:ext cx="1690573" cy="26517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62210" y="3227832"/>
            <a:ext cx="143454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2E44"/>
                </a:solidFill>
                <a:latin typeface="Segoe UI"/>
              </a:rPr>
              <a:t>DECISÃO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498" y="3840480"/>
            <a:ext cx="1397965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 i="0">
                <a:solidFill>
                  <a:srgbClr val="6B5F63"/>
                </a:solidFill>
                <a:latin typeface="Segoe UI"/>
              </a:rPr>
              <a:t>Agenda e envia a data por mensagem, ou recusa informando o motivo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DIAGRAMA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Ciclo de vida: solicitação e agendamento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A solicitação passa pela triagem; se aprovada, nasce um agendamento.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488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7A2E44"/>
                </a:solidFill>
                <a:latin typeface="Segoe UI"/>
              </a:rPr>
              <a:t>SOLICITAÇÃO (TRIAGEM)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1720" y="2834640"/>
            <a:ext cx="411480" cy="0"/>
          </a:xfrm>
          <a:prstGeom prst="line">
            <a:avLst/>
          </a:prstGeom>
          <a:ln w="19050">
            <a:solidFill>
              <a:srgbClr val="B09A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17720" y="2834640"/>
            <a:ext cx="411480" cy="0"/>
          </a:xfrm>
          <a:prstGeom prst="line">
            <a:avLst/>
          </a:prstGeom>
          <a:ln w="19050">
            <a:solidFill>
              <a:srgbClr val="B09A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03720" y="2468880"/>
            <a:ext cx="548640" cy="365760"/>
          </a:xfrm>
          <a:prstGeom prst="line">
            <a:avLst/>
          </a:prstGeom>
          <a:ln w="19050">
            <a:solidFill>
              <a:srgbClr val="5E8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03720" y="2834640"/>
            <a:ext cx="548640" cy="393192"/>
          </a:xfrm>
          <a:prstGeom prst="line">
            <a:avLst/>
          </a:prstGeom>
          <a:ln w="19050">
            <a:solidFill>
              <a:srgbClr val="7A2E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2514600"/>
            <a:ext cx="1764792" cy="640080"/>
          </a:xfrm>
          <a:prstGeom prst="roundRect">
            <a:avLst>
              <a:gd name="adj" fmla="val 12000"/>
            </a:avLst>
          </a:prstGeom>
          <a:solidFill>
            <a:srgbClr val="5C2438"/>
          </a:solidFill>
          <a:ln w="20320">
            <a:solidFill>
              <a:srgbClr val="5C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15819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Recebida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14600"/>
            <a:ext cx="17647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Recebida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514600"/>
            <a:ext cx="1874519" cy="640080"/>
          </a:xfrm>
          <a:prstGeom prst="roundRect">
            <a:avLst>
              <a:gd name="adj" fmla="val 12000"/>
            </a:avLst>
          </a:prstGeom>
          <a:solidFill>
            <a:srgbClr val="F7F0EB"/>
          </a:solidFill>
          <a:ln w="20320">
            <a:solidFill>
              <a:srgbClr val="A65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514600"/>
            <a:ext cx="16916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Em triagem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148840"/>
            <a:ext cx="2194560" cy="658368"/>
          </a:xfrm>
          <a:prstGeom prst="roundRect">
            <a:avLst>
              <a:gd name="adj" fmla="val 12000"/>
            </a:avLst>
          </a:prstGeom>
          <a:solidFill>
            <a:srgbClr val="F7F0EB"/>
          </a:solidFill>
          <a:ln w="20320">
            <a:solidFill>
              <a:srgbClr val="5E8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258568"/>
            <a:ext cx="201167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5E8C78"/>
                </a:solidFill>
                <a:latin typeface="Segoe UI"/>
              </a:rPr>
              <a:t>Agendada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1">
                <a:solidFill>
                  <a:srgbClr val="6B5F63"/>
                </a:solidFill>
                <a:latin typeface="Segoe UI"/>
              </a:rPr>
              <a:t>vira agendamento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081528"/>
            <a:ext cx="2194560" cy="658368"/>
          </a:xfrm>
          <a:prstGeom prst="roundRect">
            <a:avLst>
              <a:gd name="adj" fmla="val 12000"/>
            </a:avLst>
          </a:prstGeom>
          <a:solidFill>
            <a:srgbClr val="F7F0EB"/>
          </a:solidFill>
          <a:ln w="20320">
            <a:solidFill>
              <a:srgbClr val="7A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191256"/>
            <a:ext cx="201167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7A2E44"/>
                </a:solidFill>
                <a:latin typeface="Segoe UI"/>
              </a:rPr>
              <a:t>Recusada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1">
                <a:solidFill>
                  <a:srgbClr val="6B5F63"/>
                </a:solidFill>
                <a:latin typeface="Segoe UI"/>
              </a:rPr>
              <a:t>com motivo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7A2E44"/>
                </a:solidFill>
                <a:latin typeface="Segoe UI"/>
              </a:rPr>
              <a:t>AGENDAMENTO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331720" y="4480560"/>
            <a:ext cx="3154680" cy="365760"/>
          </a:xfrm>
          <a:prstGeom prst="line">
            <a:avLst/>
          </a:prstGeom>
          <a:ln w="19050">
            <a:solidFill>
              <a:srgbClr val="5E8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4846320"/>
            <a:ext cx="3154680" cy="0"/>
          </a:xfrm>
          <a:prstGeom prst="line">
            <a:avLst/>
          </a:prstGeom>
          <a:ln w="19050">
            <a:solidFill>
              <a:srgbClr val="B09A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4846320"/>
            <a:ext cx="3154680" cy="393192"/>
          </a:xfrm>
          <a:prstGeom prst="line">
            <a:avLst/>
          </a:prstGeom>
          <a:ln w="19050">
            <a:solidFill>
              <a:srgbClr val="7A2E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6928" y="4526280"/>
            <a:ext cx="1764792" cy="640080"/>
          </a:xfrm>
          <a:prstGeom prst="roundRect">
            <a:avLst>
              <a:gd name="adj" fmla="val 12000"/>
            </a:avLst>
          </a:prstGeom>
          <a:solidFill>
            <a:srgbClr val="5C2438"/>
          </a:solidFill>
          <a:ln w="20320">
            <a:solidFill>
              <a:srgbClr val="5C2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819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Agendado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526280"/>
            <a:ext cx="17647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Agendado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4069080"/>
            <a:ext cx="2194560" cy="658368"/>
          </a:xfrm>
          <a:prstGeom prst="roundRect">
            <a:avLst>
              <a:gd name="adj" fmla="val 12000"/>
            </a:avLst>
          </a:prstGeom>
          <a:solidFill>
            <a:srgbClr val="F7F0EB"/>
          </a:solidFill>
          <a:ln w="20320">
            <a:solidFill>
              <a:srgbClr val="5E8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4178808"/>
            <a:ext cx="201167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5E8C78"/>
                </a:solidFill>
                <a:latin typeface="Segoe UI"/>
              </a:rPr>
              <a:t>Realizado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1">
                <a:solidFill>
                  <a:srgbClr val="6B5F63"/>
                </a:solidFill>
                <a:latin typeface="Segoe UI"/>
              </a:rPr>
              <a:t>paciente compareceu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910328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7F0EB"/>
          </a:solidFill>
          <a:ln w="20320">
            <a:solidFill>
              <a:srgbClr val="7A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5020056"/>
            <a:ext cx="2011679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7A2E44"/>
                </a:solidFill>
                <a:latin typeface="Segoe UI"/>
              </a:rPr>
              <a:t>Faltou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1">
                <a:solidFill>
                  <a:srgbClr val="6B5F63"/>
                </a:solidFill>
                <a:latin typeface="Segoe UI"/>
              </a:rPr>
              <a:t>não compareceu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910328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7F0EB"/>
          </a:solidFill>
          <a:ln w="20320">
            <a:solidFill>
              <a:srgbClr val="6B5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020056"/>
            <a:ext cx="2011679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6B5F63"/>
                </a:solidFill>
                <a:latin typeface="Segoe UI"/>
              </a:rPr>
              <a:t>Cancelado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1">
                <a:solidFill>
                  <a:srgbClr val="6B5F63"/>
                </a:solidFill>
                <a:latin typeface="Segoe UI"/>
              </a:rPr>
              <a:t>motivo do cancelamento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7FA894"/>
                </a:solidFill>
                <a:latin typeface="Segoe UI"/>
              </a:rPr>
              <a:t>L G P D   E   S E G U R A N Ç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Georgia"/>
              </a:rPr>
              <a:t>Dado de saúde tratado com o devido cuidado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57400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5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6696" y="2505456"/>
            <a:ext cx="155448" cy="15544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236829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Criptografia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2D3D8"/>
                </a:solidFill>
                <a:latin typeface="Segoe UI"/>
              </a:rPr>
              <a:t>HTTPS em trânsito e criptografia em repouso, no banco e no armazenamento de fotos.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2057400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5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2331720"/>
            <a:ext cx="502920" cy="50292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0016" y="2505456"/>
            <a:ext cx="155448" cy="15544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236829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Acesso por papel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97180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2D3D8"/>
                </a:solidFill>
                <a:latin typeface="Segoe UI"/>
              </a:rPr>
              <a:t>Recepção não vê dados clínicos sensíveis; cada papel enxerga só o necessário.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7" y="2057400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5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9" y="2331720"/>
            <a:ext cx="502920" cy="50292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03335" y="2505456"/>
            <a:ext cx="155448" cy="15544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236829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Consentimento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7180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2D3D8"/>
                </a:solidFill>
                <a:latin typeface="Segoe UI"/>
              </a:rPr>
              <a:t>Aceite datado na anamnese e dois consentimentos (clínico e público) por foto.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69080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5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" y="4517136"/>
            <a:ext cx="155448" cy="15544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7048" y="437997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Trilha de auditoria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9834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2D3D8"/>
                </a:solidFill>
                <a:latin typeface="Segoe UI"/>
              </a:rPr>
              <a:t>Todo acesso e alteração de prontuário fica registrado.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4069080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5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80" y="4343400"/>
            <a:ext cx="502920" cy="50292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0016" y="4517136"/>
            <a:ext cx="155448" cy="15544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0368" y="437997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Direito ao esquecimento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9834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2D3D8"/>
                </a:solidFill>
                <a:latin typeface="Segoe UI"/>
              </a:rPr>
              <a:t>Exclusão/anonimização real do paciente sob solicitação.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7" y="4069080"/>
            <a:ext cx="3429000" cy="1691640"/>
          </a:xfrm>
          <a:prstGeom prst="roundRect">
            <a:avLst>
              <a:gd name="adj" fmla="val 5000"/>
            </a:avLst>
          </a:prstGeom>
          <a:solidFill>
            <a:srgbClr val="5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599" y="4343400"/>
            <a:ext cx="502920" cy="50292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03335" y="4517136"/>
            <a:ext cx="155448" cy="155448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3688" y="437997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Dados no Brasil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9834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E2D3D8"/>
                </a:solidFill>
                <a:latin typeface="Segoe UI"/>
              </a:rPr>
              <a:t>Banco e fotos hospedados em região Brasil (São Paulo), conforme a LGPD.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C9B6BC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C9B6B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TECNOLOGIA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Arquitetura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Tecnologias consolidadas e hospedagem gerenciada no Brasil, com backup automático.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68880"/>
            <a:ext cx="2558719" cy="31089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3095" y="2852928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9983" y="3127248"/>
            <a:ext cx="292608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3794760"/>
            <a:ext cx="2339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2E2A2C"/>
                </a:solidFill>
                <a:latin typeface="Segoe U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187952"/>
            <a:ext cx="2339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1">
                <a:solidFill>
                  <a:srgbClr val="7A2E44"/>
                </a:solidFill>
                <a:latin typeface="Segoe UI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2229535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App web responsivo, usado por computador ou celular. Rota pública isolada para a anamnese.</a:t>
            </a:r>
          </a:p>
        </p:txBody>
      </p:sp>
      <p:sp>
        <p:nvSpPr>
          <p:cNvPr id="12" name="Chevron 11"/>
          <p:cNvSpPr/>
          <p:nvPr/>
        </p:nvSpPr>
        <p:spPr>
          <a:xfrm>
            <a:off x="3153079" y="3931920"/>
            <a:ext cx="182880" cy="182880"/>
          </a:xfrm>
          <a:prstGeom prst="chevron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9967" y="2468880"/>
            <a:ext cx="2558719" cy="31089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6135" y="2852928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33023" y="3127248"/>
            <a:ext cx="292608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695" y="3794760"/>
            <a:ext cx="2339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2E2A2C"/>
                </a:solidFill>
                <a:latin typeface="Segoe U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695" y="4187952"/>
            <a:ext cx="2339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1">
                <a:solidFill>
                  <a:srgbClr val="7A2E44"/>
                </a:solidFill>
                <a:latin typeface="Segoe UI"/>
              </a:rPr>
              <a:t>ASP.NET Core (.NET 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4559" y="4709160"/>
            <a:ext cx="2229535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API em camadas pragmáticas, autenticação por papel (JWT), EF Core.</a:t>
            </a:r>
          </a:p>
        </p:txBody>
      </p:sp>
      <p:sp>
        <p:nvSpPr>
          <p:cNvPr id="19" name="Chevron 18"/>
          <p:cNvSpPr/>
          <p:nvPr/>
        </p:nvSpPr>
        <p:spPr>
          <a:xfrm>
            <a:off x="5986119" y="3931920"/>
            <a:ext cx="182880" cy="182880"/>
          </a:xfrm>
          <a:prstGeom prst="chevron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2468880"/>
            <a:ext cx="2558719" cy="31089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19175" y="2852928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6063" y="3127248"/>
            <a:ext cx="292608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2735" y="3794760"/>
            <a:ext cx="2339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2E2A2C"/>
                </a:solidFill>
                <a:latin typeface="Segoe UI"/>
              </a:rPr>
              <a:t>Banco de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2735" y="4187952"/>
            <a:ext cx="2339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1">
                <a:solidFill>
                  <a:srgbClr val="7A2E44"/>
                </a:solidFill>
                <a:latin typeface="Segoe UI"/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7599" y="4709160"/>
            <a:ext cx="2229535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Gerenciado, com backup automático.</a:t>
            </a:r>
          </a:p>
        </p:txBody>
      </p:sp>
      <p:sp>
        <p:nvSpPr>
          <p:cNvPr id="26" name="Chevron 25"/>
          <p:cNvSpPr/>
          <p:nvPr/>
        </p:nvSpPr>
        <p:spPr>
          <a:xfrm>
            <a:off x="8819159" y="3931920"/>
            <a:ext cx="182880" cy="182880"/>
          </a:xfrm>
          <a:prstGeom prst="chevron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66047" y="2468880"/>
            <a:ext cx="2558719" cy="3108960"/>
          </a:xfrm>
          <a:prstGeom prst="roundRect">
            <a:avLst>
              <a:gd name="adj" fmla="val 5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52215" y="2852928"/>
            <a:ext cx="786384" cy="786384"/>
          </a:xfrm>
          <a:prstGeom prst="ellipse">
            <a:avLst/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9103" y="3127248"/>
            <a:ext cx="292608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5775" y="3794760"/>
            <a:ext cx="23392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2E2A2C"/>
                </a:solidFill>
                <a:latin typeface="Segoe UI"/>
              </a:rPr>
              <a:t>Armazenamento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5775" y="4187952"/>
            <a:ext cx="2339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1">
                <a:solidFill>
                  <a:srgbClr val="7A2E44"/>
                </a:solidFill>
                <a:latin typeface="Segoe UI"/>
              </a:rPr>
              <a:t>AWS S3 (São Paulo)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639" y="4709160"/>
            <a:ext cx="2229535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Fotos de antes/depois, acessadas só por URL assinada e temporária.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02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7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Segoe UI"/>
              </a:rPr>
              <a:t>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2E2A2C"/>
                </a:solidFill>
                <a:latin typeface="Georgia"/>
              </a:rPr>
              <a:t>Como vamos validar 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6B5F63"/>
                </a:solidFill>
                <a:latin typeface="Segoe UI"/>
              </a:rPr>
              <a:t>Antes da entrega, cada fluxo crítico é testado de ponta a ponta.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542032"/>
            <a:ext cx="457200" cy="45720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5" y="2697480"/>
            <a:ext cx="146304" cy="146304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248716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Autenticação e papéis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852928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Cada papel só acessa as telas e dados permitidos.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28600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2542032"/>
            <a:ext cx="457200" cy="45720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74536" y="2697480"/>
            <a:ext cx="146304" cy="146304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248716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Cadastro de 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852928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Com e sem CPF, bloqueando duplicidade.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9476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050792"/>
            <a:ext cx="457200" cy="45720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6695" y="4206240"/>
            <a:ext cx="146304" cy="146304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7048" y="399592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Anamnese e triagem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361688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Link expira após uso; IMC calculado; solicitação vira agendamento ou recusa com motivo.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79476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4050792"/>
            <a:ext cx="457200" cy="45720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74536" y="4206240"/>
            <a:ext cx="146304" cy="146304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399592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Agenda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Bloqueio de colisão de horário para o mesmo profissional.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0352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7" y="5559552"/>
            <a:ext cx="457200" cy="45720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6695" y="5715000"/>
            <a:ext cx="146304" cy="146304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550468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Mídia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5870448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Upload para S3, acesso só por URL assinada, consentimentos gravados.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5303520"/>
            <a:ext cx="5257800" cy="1234440"/>
          </a:xfrm>
          <a:prstGeom prst="roundRect">
            <a:avLst>
              <a:gd name="adj" fmla="val 6000"/>
            </a:avLst>
          </a:prstGeom>
          <a:solidFill>
            <a:srgbClr val="F7F0EB"/>
          </a:solidFill>
          <a:ln w="12700">
            <a:solidFill>
              <a:srgbClr val="E4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5559552"/>
            <a:ext cx="457200" cy="457200"/>
          </a:xfrm>
          <a:prstGeom prst="ellipse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74536" y="5715000"/>
            <a:ext cx="146304" cy="146304"/>
          </a:xfrm>
          <a:prstGeom prst="rect">
            <a:avLst/>
          </a:prstGeom>
          <a:solidFill>
            <a:srgbClr val="4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4888" y="550468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E2A2C"/>
                </a:solidFill>
                <a:latin typeface="Segoe UI"/>
              </a:rPr>
              <a:t>LGPD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5870448"/>
            <a:ext cx="4114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 i="0">
                <a:solidFill>
                  <a:srgbClr val="6B5F63"/>
                </a:solidFill>
                <a:latin typeface="Segoe UI"/>
              </a:rPr>
              <a:t>Exclusão/anonimização do paciente com trilha de auditoria.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CRM Clinica de Estetica  —  Proposta de Projeto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850" b="0" i="0">
                <a:solidFill>
                  <a:srgbClr val="6B5F6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011680"/>
            <a:ext cx="4937760" cy="4937760"/>
          </a:xfrm>
          <a:prstGeom prst="ellipse">
            <a:avLst/>
          </a:prstGeom>
          <a:solidFill>
            <a:srgbClr val="6E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840480"/>
            <a:ext cx="5120640" cy="5120640"/>
          </a:xfrm>
          <a:prstGeom prst="ellipse">
            <a:avLst/>
          </a:prstGeom>
          <a:solidFill>
            <a:srgbClr val="6E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7FA894"/>
                </a:solidFill>
                <a:latin typeface="Segoe UI"/>
              </a:rPr>
              <a:t>P R Ó X I M O   P A S S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Georgia"/>
              </a:rPr>
              <a:t>Iniciar a Fase 1 (MVP)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 i="0">
                <a:solidFill>
                  <a:srgbClr val="D9C7CD"/>
                </a:solidFill>
                <a:latin typeface="Segoe UI"/>
              </a:rPr>
              <a:t>Fundação do backend em .NET, autenticação por papel, e os módulos de Pacientes, Anamnese, Triagem, Catálogo, Agenda e Mídia.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800600"/>
            <a:ext cx="1554480" cy="27432"/>
          </a:xfrm>
          <a:prstGeom prst="rect">
            <a:avLst/>
          </a:prstGeom>
          <a:solidFill>
            <a:srgbClr val="7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029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C7B2B8"/>
                </a:solidFill>
                <a:latin typeface="Segoe UI"/>
              </a:rPr>
              <a:t>Perguntas e alinhamentos, à disposição.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